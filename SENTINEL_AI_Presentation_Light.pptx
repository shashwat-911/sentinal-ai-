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828800"/>
            <a:ext cx="137160" cy="32918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10332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defRPr sz="4400" b="1">
                <a:solidFill>
                  <a:srgbClr val="0D9488"/>
                </a:solidFill>
                <a:latin typeface="Consolas"/>
              </a:defRPr>
            </a:pPr>
            <a:r>
              <a:t>SENTINEL AI</a:t>
            </a:r>
          </a:p>
          <a:p>
            <a:pPr>
              <a:spcBef>
                <a:spcPts val="800"/>
              </a:spcBef>
              <a:defRPr sz="2400" b="1">
                <a:solidFill>
                  <a:srgbClr val="0F172A"/>
                </a:solidFill>
                <a:latin typeface="Arial"/>
              </a:defRPr>
            </a:pPr>
            <a:r>
              <a:t>Automated Public Safety &amp; Threat Detection System</a:t>
            </a:r>
          </a:p>
          <a:p>
            <a:pPr>
              <a:spcBef>
                <a:spcPts val="8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Real-Time Unattended Luggage Detection &amp; Loitering Analytics Engine</a:t>
            </a:r>
          </a:p>
          <a:p>
            <a:pPr>
              <a:spcBef>
                <a:spcPts val="2500"/>
              </a:spcBef>
              <a:defRPr sz="1300" b="1">
                <a:solidFill>
                  <a:srgbClr val="2563EB"/>
                </a:solidFill>
                <a:latin typeface="Consolas"/>
              </a:defRPr>
            </a:pPr>
            <a:r>
              <a:t>Final Year Academic Project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3DF678-6E97-59E2-7DB3-A322CD6FF72A}"/>
              </a:ext>
            </a:extLst>
          </p:cNvPr>
          <p:cNvSpPr txBox="1"/>
          <p:nvPr/>
        </p:nvSpPr>
        <p:spPr>
          <a:xfrm>
            <a:off x="7629832" y="5368413"/>
            <a:ext cx="43950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Shashwat Yadav 1DT23AI051</a:t>
            </a:r>
          </a:p>
          <a:p>
            <a:r>
              <a:rPr lang="en-US" dirty="0"/>
              <a:t>Dheeraj AU 	   1DT23AI016</a:t>
            </a:r>
          </a:p>
          <a:p>
            <a:r>
              <a:rPr lang="en-US" dirty="0"/>
              <a:t>Kushal </a:t>
            </a:r>
            <a:r>
              <a:rPr lang="en-US" dirty="0" err="1"/>
              <a:t>Sheety</a:t>
            </a:r>
            <a:r>
              <a:rPr lang="en-US" dirty="0"/>
              <a:t>     1DT23AI026</a:t>
            </a:r>
          </a:p>
          <a:p>
            <a:r>
              <a:rPr lang="en-US" dirty="0"/>
              <a:t>Aviral Sahu 	   1DT23AI011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onsolas"/>
              </a:defRPr>
            </a:pPr>
            <a:r>
              <a:t>SENTINEL AI — PUBLIC SAFETY SURVEILLANCE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Problem Statement &amp;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rPr sz="2000" dirty="0"/>
              <a:t>CHALLENGES IN MANUAL SURVEILLANCE</a:t>
            </a:r>
          </a:p>
          <a:p>
            <a:pPr>
              <a:spcBef>
                <a:spcPts val="1200"/>
              </a:spcBef>
            </a:pPr>
            <a:r>
              <a:rPr sz="2000" b="1" dirty="0">
                <a:solidFill>
                  <a:srgbClr val="0F172A"/>
                </a:solidFill>
              </a:rPr>
              <a:t>Operator Attention Decay: </a:t>
            </a:r>
            <a:r>
              <a:rPr sz="2000" dirty="0">
                <a:solidFill>
                  <a:srgbClr val="334155"/>
                </a:solidFill>
              </a:rPr>
              <a:t>CCTV operators lose up to 95% of visual attention after 20 minutes of continuous screen monitoring.</a:t>
            </a:r>
          </a:p>
          <a:p>
            <a:pPr>
              <a:spcBef>
                <a:spcPts val="1200"/>
              </a:spcBef>
            </a:pPr>
            <a:r>
              <a:rPr sz="2000" b="1" dirty="0">
                <a:solidFill>
                  <a:srgbClr val="0F172A"/>
                </a:solidFill>
              </a:rPr>
              <a:t>High-Threat </a:t>
            </a:r>
            <a:r>
              <a:rPr sz="2000" b="1" dirty="0" err="1">
                <a:solidFill>
                  <a:srgbClr val="0F172A"/>
                </a:solidFill>
              </a:rPr>
              <a:t>Blindspots</a:t>
            </a:r>
            <a:r>
              <a:rPr sz="2000" b="1" dirty="0">
                <a:solidFill>
                  <a:srgbClr val="0F172A"/>
                </a:solidFill>
              </a:rPr>
              <a:t>: </a:t>
            </a:r>
            <a:r>
              <a:rPr sz="2000" dirty="0">
                <a:solidFill>
                  <a:srgbClr val="334155"/>
                </a:solidFill>
              </a:rPr>
              <a:t>Unattended baggage in high-footfall areas (airports, stations) goes unnoticed until critical delay.</a:t>
            </a:r>
          </a:p>
          <a:p>
            <a:pPr>
              <a:spcBef>
                <a:spcPts val="1200"/>
              </a:spcBef>
            </a:pPr>
            <a:r>
              <a:rPr sz="2000" b="1" dirty="0">
                <a:solidFill>
                  <a:srgbClr val="0F172A"/>
                </a:solidFill>
              </a:rPr>
              <a:t>False Alarm Overload: </a:t>
            </a:r>
            <a:r>
              <a:rPr sz="2000" dirty="0">
                <a:solidFill>
                  <a:srgbClr val="334155"/>
                </a:solidFill>
              </a:rPr>
              <a:t>Traditional motion detectors produce constant false alarms without owner-presence context</a:t>
            </a:r>
            <a:r>
              <a:rPr sz="1100" dirty="0">
                <a:solidFill>
                  <a:srgbClr val="334155"/>
                </a:solidFill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rPr sz="2000" dirty="0"/>
              <a:t>PROJECT OBJECTIVES</a:t>
            </a:r>
          </a:p>
          <a:p>
            <a:pPr>
              <a:spcBef>
                <a:spcPts val="1000"/>
              </a:spcBef>
            </a:pPr>
            <a:r>
              <a:rPr sz="2000" b="1" dirty="0">
                <a:solidFill>
                  <a:srgbClr val="0F172A"/>
                </a:solidFill>
              </a:rPr>
              <a:t>Automated Object Detection: </a:t>
            </a:r>
            <a:r>
              <a:rPr sz="2000" dirty="0">
                <a:solidFill>
                  <a:srgbClr val="334155"/>
                </a:solidFill>
              </a:rPr>
              <a:t>Deploy deep learning models to automatically detect luggage and persons simultaneously.</a:t>
            </a:r>
          </a:p>
          <a:p>
            <a:pPr>
              <a:spcBef>
                <a:spcPts val="1000"/>
              </a:spcBef>
            </a:pPr>
            <a:r>
              <a:rPr sz="2000" b="1" dirty="0">
                <a:solidFill>
                  <a:srgbClr val="0F172A"/>
                </a:solidFill>
              </a:rPr>
              <a:t>Temporal Dwell-Time Tracking: </a:t>
            </a:r>
            <a:r>
              <a:rPr sz="2000" dirty="0">
                <a:solidFill>
                  <a:srgbClr val="334155"/>
                </a:solidFill>
              </a:rPr>
              <a:t>Track dwell times and calculate real-time unattended risk scores (0–100%).</a:t>
            </a:r>
          </a:p>
          <a:p>
            <a:pPr>
              <a:spcBef>
                <a:spcPts val="1000"/>
              </a:spcBef>
            </a:pPr>
            <a:r>
              <a:rPr sz="2000" b="1" dirty="0">
                <a:solidFill>
                  <a:srgbClr val="0F172A"/>
                </a:solidFill>
              </a:rPr>
              <a:t>Smart Owner-Return Cancellation: </a:t>
            </a:r>
            <a:r>
              <a:rPr sz="2000" dirty="0">
                <a:solidFill>
                  <a:srgbClr val="334155"/>
                </a:solidFill>
              </a:rPr>
              <a:t>Disarm alerts automatically when owners return within proximity, reducing false alarms.</a:t>
            </a:r>
          </a:p>
          <a:p>
            <a:pPr>
              <a:spcBef>
                <a:spcPts val="1000"/>
              </a:spcBef>
            </a:pPr>
            <a:r>
              <a:rPr sz="2000" b="1" dirty="0">
                <a:solidFill>
                  <a:srgbClr val="0F172A"/>
                </a:solidFill>
              </a:rPr>
              <a:t>Auditable Reporting Engine: </a:t>
            </a:r>
            <a:r>
              <a:rPr sz="2000" dirty="0">
                <a:solidFill>
                  <a:srgbClr val="334155"/>
                </a:solidFill>
              </a:rPr>
              <a:t>Generate instant PDF incident reports and structured Excel logs for security personnel.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onsolas"/>
              </a:defRPr>
            </a:pPr>
            <a:r>
              <a:t>SENTINEL AI — PUBLIC SAFETY SURVEILLANCE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System Architecture &amp; Modular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b="1" dirty="0">
                <a:solidFill>
                  <a:srgbClr val="0D9488"/>
                </a:solidFill>
                <a:latin typeface="Consolas"/>
              </a:rPr>
              <a:t>DUAL INFERENCE ENGINE  ➔  </a:t>
            </a:r>
            <a:r>
              <a:rPr dirty="0">
                <a:solidFill>
                  <a:srgbClr val="0F172A"/>
                </a:solidFill>
              </a:rPr>
              <a:t>Custom YOLO Luggage Model (best.pt) + Pretrained YOLOv9s Person Model (COCO Class 0)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73152" cy="7772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b="1" dirty="0">
                <a:solidFill>
                  <a:srgbClr val="2563EB"/>
                </a:solidFill>
                <a:latin typeface="Consolas"/>
              </a:rPr>
              <a:t>CENTROID TRACKER  ➔  </a:t>
            </a:r>
            <a:r>
              <a:rPr dirty="0">
                <a:solidFill>
                  <a:srgbClr val="0F172A"/>
                </a:solidFill>
              </a:rPr>
              <a:t>Multi-object ID assignment with Exponential Moving Average (EMA) spatial smoothing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73152" cy="777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b="1" dirty="0">
                <a:solidFill>
                  <a:srgbClr val="D97706"/>
                </a:solidFill>
                <a:latin typeface="Consolas"/>
              </a:rPr>
              <a:t>RISK ANALYSIS ENGINE  ➔  </a:t>
            </a:r>
            <a:r>
              <a:rPr dirty="0">
                <a:solidFill>
                  <a:srgbClr val="0F172A"/>
                </a:solidFill>
              </a:rPr>
              <a:t>Dwell time counter, 4-tier risk severity scoring &amp; Proximity owner-return checker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429000"/>
            <a:ext cx="73152" cy="7772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b="1" dirty="0">
                <a:solidFill>
                  <a:srgbClr val="0D9488"/>
                </a:solidFill>
                <a:latin typeface="Consolas"/>
              </a:rPr>
              <a:t>GUI DASHBOARD  ➔  </a:t>
            </a:r>
            <a:r>
              <a:rPr dirty="0" err="1">
                <a:solidFill>
                  <a:srgbClr val="0F172A"/>
                </a:solidFill>
              </a:rPr>
              <a:t>Tkinter</a:t>
            </a:r>
            <a:r>
              <a:rPr dirty="0">
                <a:solidFill>
                  <a:srgbClr val="0F172A"/>
                </a:solidFill>
              </a:rPr>
              <a:t> desktop HUD, live OpenCV video player, parameter controls &amp; Matplotlib graphs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389120"/>
            <a:ext cx="73152" cy="7772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b="1" dirty="0">
                <a:solidFill>
                  <a:srgbClr val="7C3AED"/>
                </a:solidFill>
                <a:latin typeface="Consolas"/>
              </a:rPr>
              <a:t>AUDIT &amp; REPORTING  ➔  </a:t>
            </a:r>
            <a:r>
              <a:rPr dirty="0">
                <a:solidFill>
                  <a:srgbClr val="0F172A"/>
                </a:solidFill>
              </a:rPr>
              <a:t>Automated PDF incident generator (</a:t>
            </a:r>
            <a:r>
              <a:rPr dirty="0" err="1">
                <a:solidFill>
                  <a:srgbClr val="0F172A"/>
                </a:solidFill>
              </a:rPr>
              <a:t>reportlab</a:t>
            </a:r>
            <a:r>
              <a:rPr dirty="0">
                <a:solidFill>
                  <a:srgbClr val="0F172A"/>
                </a:solidFill>
              </a:rPr>
              <a:t>) &amp; session Excel logger (</a:t>
            </a:r>
            <a:r>
              <a:rPr dirty="0" err="1">
                <a:solidFill>
                  <a:srgbClr val="0F172A"/>
                </a:solidFill>
              </a:rPr>
              <a:t>openpyxl</a:t>
            </a:r>
            <a:r>
              <a:rPr dirty="0">
                <a:solidFill>
                  <a:srgbClr val="0F172A"/>
                </a:solidFill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349240"/>
            <a:ext cx="73152" cy="7772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onsolas"/>
              </a:defRPr>
            </a:pPr>
            <a:r>
              <a:t>SENTINEL AI — PUBLIC SAFETY SURVEILLANCE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Model Training &amp; Evaluation Metrics (Empirical Results)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2800" b="1">
                <a:solidFill>
                  <a:srgbClr val="0D9488"/>
                </a:solidFill>
                <a:latin typeface="Consolas"/>
              </a:defRPr>
            </a:pPr>
            <a:r>
              <a:rPr dirty="0"/>
              <a:t>93.07%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rPr dirty="0"/>
              <a:t>mAP@50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rPr dirty="0"/>
              <a:t>Detection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2331720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2800" b="1">
                <a:solidFill>
                  <a:srgbClr val="2563EB"/>
                </a:solidFill>
                <a:latin typeface="Consolas"/>
              </a:defRPr>
            </a:pPr>
            <a:r>
              <a:t>94.96%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PRECISION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Low False Positives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7872" y="1508760"/>
            <a:ext cx="233172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81344" y="146304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2800" b="1">
                <a:solidFill>
                  <a:srgbClr val="7C3AED"/>
                </a:solidFill>
                <a:latin typeface="Consolas"/>
              </a:defRPr>
            </a:pPr>
            <a:r>
              <a:t>84.58%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RECALL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High Threat Capture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3" y="1508760"/>
            <a:ext cx="2331720" cy="5486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06256" y="146304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2800" b="1">
                <a:solidFill>
                  <a:srgbClr val="D97706"/>
                </a:solidFill>
                <a:latin typeface="Consolas"/>
              </a:defRPr>
            </a:pPr>
            <a:r>
              <a:rPr dirty="0"/>
              <a:t>72.86%</a:t>
            </a:r>
            <a:endParaRPr lang="en-IN" dirty="0"/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rPr lang="pt-BR" dirty="0"/>
              <a:t>mAP@50-95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rPr lang="pt-BR" dirty="0"/>
              <a:t>Strict IOU 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97696" y="1508760"/>
            <a:ext cx="2331720" cy="5486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51206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rPr dirty="0"/>
              <a:t>TRAINING HYPERPARAMETERS &amp; LOSS</a:t>
            </a:r>
          </a:p>
          <a:p>
            <a:pPr>
              <a:spcBef>
                <a:spcPts val="600"/>
              </a:spcBef>
            </a:pPr>
            <a:r>
              <a:rPr b="1" dirty="0">
                <a:solidFill>
                  <a:srgbClr val="0F172A"/>
                </a:solidFill>
              </a:rPr>
              <a:t>Base Architecture: </a:t>
            </a:r>
            <a:r>
              <a:rPr dirty="0">
                <a:solidFill>
                  <a:srgbClr val="334155"/>
                </a:solidFill>
              </a:rPr>
              <a:t>YOLOv9 Custom Luggage Model</a:t>
            </a:r>
          </a:p>
          <a:p>
            <a:pPr>
              <a:spcBef>
                <a:spcPts val="600"/>
              </a:spcBef>
            </a:pPr>
            <a:r>
              <a:rPr b="1" dirty="0">
                <a:solidFill>
                  <a:srgbClr val="0F172A"/>
                </a:solidFill>
              </a:rPr>
              <a:t>Training Duration: </a:t>
            </a:r>
            <a:r>
              <a:rPr dirty="0">
                <a:solidFill>
                  <a:srgbClr val="334155"/>
                </a:solidFill>
              </a:rPr>
              <a:t>30 Epochs (Image size: 640x640, Batch: 4)</a:t>
            </a:r>
          </a:p>
          <a:p>
            <a:pPr>
              <a:spcBef>
                <a:spcPts val="600"/>
              </a:spcBef>
            </a:pPr>
            <a:r>
              <a:rPr b="1" dirty="0">
                <a:solidFill>
                  <a:srgbClr val="0F172A"/>
                </a:solidFill>
              </a:rPr>
              <a:t>Final Training Box Loss: </a:t>
            </a:r>
            <a:r>
              <a:rPr dirty="0">
                <a:solidFill>
                  <a:srgbClr val="334155"/>
                </a:solidFill>
              </a:rPr>
              <a:t>0.5878 (Converged cleanly)</a:t>
            </a:r>
          </a:p>
          <a:p>
            <a:pPr>
              <a:spcBef>
                <a:spcPts val="600"/>
              </a:spcBef>
            </a:pPr>
            <a:r>
              <a:rPr b="1" dirty="0">
                <a:solidFill>
                  <a:srgbClr val="0F172A"/>
                </a:solidFill>
              </a:rPr>
              <a:t>Final Validation Box Loss: </a:t>
            </a:r>
            <a:r>
              <a:rPr dirty="0">
                <a:solidFill>
                  <a:srgbClr val="334155"/>
                </a:solidFill>
              </a:rPr>
              <a:t>0.7708</a:t>
            </a:r>
          </a:p>
          <a:p>
            <a:pPr>
              <a:spcBef>
                <a:spcPts val="600"/>
              </a:spcBef>
            </a:pPr>
            <a:r>
              <a:rPr b="1" dirty="0">
                <a:solidFill>
                  <a:srgbClr val="0F172A"/>
                </a:solidFill>
              </a:rPr>
              <a:t>Final Class Loss: </a:t>
            </a:r>
            <a:r>
              <a:rPr dirty="0">
                <a:solidFill>
                  <a:srgbClr val="334155"/>
                </a:solidFill>
              </a:rPr>
              <a:t>0.3621 (train) / 0.5276 (</a:t>
            </a:r>
            <a:r>
              <a:rPr dirty="0" err="1">
                <a:solidFill>
                  <a:srgbClr val="334155"/>
                </a:solidFill>
              </a:rPr>
              <a:t>val</a:t>
            </a:r>
            <a:r>
              <a:rPr dirty="0">
                <a:solidFill>
                  <a:srgbClr val="334155"/>
                </a:solidFill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00400"/>
            <a:ext cx="52120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rPr dirty="0"/>
              <a:t>AUTOMATED EXCEL METRIC LOGGING (start_training.py)</a:t>
            </a:r>
          </a:p>
          <a:p>
            <a:pPr>
              <a:spcBef>
                <a:spcPts val="800"/>
              </a:spcBef>
            </a:pPr>
            <a:r>
              <a:rPr b="1" dirty="0">
                <a:solidFill>
                  <a:srgbClr val="0F172A"/>
                </a:solidFill>
              </a:rPr>
              <a:t>Epoch-by-Epoch Excel Tracking: </a:t>
            </a:r>
            <a:r>
              <a:rPr dirty="0">
                <a:solidFill>
                  <a:srgbClr val="334155"/>
                </a:solidFill>
              </a:rPr>
              <a:t>Custom logging hook automatically writes Box Loss, mAP@50, and timestamps to XLSX per epoch.</a:t>
            </a:r>
          </a:p>
          <a:p>
            <a:pPr>
              <a:spcBef>
                <a:spcPts val="800"/>
              </a:spcBef>
            </a:pPr>
            <a:r>
              <a:rPr b="1" dirty="0">
                <a:solidFill>
                  <a:srgbClr val="0F172A"/>
                </a:solidFill>
              </a:rPr>
              <a:t>Training Log File: </a:t>
            </a:r>
            <a:r>
              <a:rPr dirty="0">
                <a:solidFill>
                  <a:srgbClr val="334155"/>
                </a:solidFill>
              </a:rPr>
              <a:t>train_training_log.xlsx generated in models/ directory.</a:t>
            </a:r>
          </a:p>
          <a:p>
            <a:pPr>
              <a:spcBef>
                <a:spcPts val="800"/>
              </a:spcBef>
            </a:pPr>
            <a:r>
              <a:rPr b="1" dirty="0">
                <a:solidFill>
                  <a:srgbClr val="0F172A"/>
                </a:solidFill>
              </a:rPr>
              <a:t>Automated Visualization: </a:t>
            </a:r>
            <a:r>
              <a:rPr dirty="0">
                <a:solidFill>
                  <a:srgbClr val="334155"/>
                </a:solidFill>
              </a:rPr>
              <a:t>Generates BoxPR_curve.png, confusion_matrix.png, and results.png automatically upon completion.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onsolas"/>
              </a:defRPr>
            </a:pPr>
            <a:r>
              <a:t>SENTINEL AI — PUBLIC SAFETY SURVEILLANCE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Ingestion &amp; Processing Pipeline (5 Phases)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65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100" b="1">
                <a:solidFill>
                  <a:srgbClr val="0D9488"/>
                </a:solidFill>
                <a:latin typeface="Consolas"/>
              </a:defRPr>
            </a:pPr>
            <a:r>
              <a:rPr sz="2000" dirty="0"/>
              <a:t>PHASE 1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rPr sz="2000" dirty="0"/>
              <a:t>Ingestion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</a:defRPr>
            </a:pPr>
            <a:r>
              <a:rPr sz="2000" dirty="0"/>
              <a:t>OpenCV reads webcam, RTSP stream, or video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783080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1965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100" b="1">
                <a:solidFill>
                  <a:srgbClr val="0D9488"/>
                </a:solidFill>
                <a:latin typeface="Consolas"/>
              </a:defRPr>
            </a:pPr>
            <a:r>
              <a:rPr sz="2000" dirty="0"/>
              <a:t>PHASE 2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rPr sz="2000" dirty="0"/>
              <a:t>Dual Inference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</a:defRPr>
            </a:pPr>
            <a:r>
              <a:rPr sz="2000" dirty="0"/>
              <a:t>Passes frame to Bag &amp; Person YOLO detectors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91640"/>
            <a:ext cx="1783080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1965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100" b="1">
                <a:solidFill>
                  <a:srgbClr val="0D9488"/>
                </a:solidFill>
                <a:latin typeface="Consolas"/>
              </a:defRPr>
            </a:pPr>
            <a:r>
              <a:rPr sz="2000" dirty="0"/>
              <a:t>PHASE 3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rPr sz="2000" dirty="0"/>
              <a:t>Centroid Tracking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</a:defRPr>
            </a:pPr>
            <a:r>
              <a:rPr sz="2000" dirty="0"/>
              <a:t>Assigns persistent IDs &amp; applies EMA smoothing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9" y="1691640"/>
            <a:ext cx="1783080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1965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100" b="1">
                <a:solidFill>
                  <a:srgbClr val="0D9488"/>
                </a:solidFill>
                <a:latin typeface="Consolas"/>
              </a:defRPr>
            </a:pPr>
            <a:r>
              <a:rPr sz="2000" dirty="0"/>
              <a:t>PHASE 4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rPr sz="2000" dirty="0"/>
              <a:t>Risk Analysis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</a:defRPr>
            </a:pPr>
            <a:r>
              <a:rPr sz="2000" dirty="0"/>
              <a:t>Calculates dwell time &amp; checks owner proximity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691640"/>
            <a:ext cx="1783080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509760" y="1645920"/>
            <a:ext cx="1965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defRPr sz="1100" b="1">
                <a:solidFill>
                  <a:srgbClr val="0D9488"/>
                </a:solidFill>
                <a:latin typeface="Consolas"/>
              </a:defRPr>
            </a:pPr>
            <a:r>
              <a:rPr sz="2000" dirty="0"/>
              <a:t>PHASE 5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rPr sz="2000" dirty="0"/>
              <a:t>HUD &amp; Reporting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</a:defRPr>
            </a:pPr>
            <a:r>
              <a:rPr sz="2000" dirty="0"/>
              <a:t>Draws dynamic overlay, triggers alarms &amp; PDF 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691640"/>
            <a:ext cx="1783080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onsolas"/>
              </a:defRPr>
            </a:pPr>
            <a:r>
              <a:t>SENTINEL AI — PUBLIC SAFETY SURVEILLANCE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Core Algorithms &amp; Key Technical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rPr sz="2000" dirty="0"/>
              <a:t>1. PROXIMITY OWNER-RETURN ALGORITHM</a:t>
            </a:r>
          </a:p>
          <a:p>
            <a:pPr>
              <a:spcBef>
                <a:spcPts val="1000"/>
              </a:spcBef>
            </a:pPr>
            <a:r>
              <a:rPr sz="2000" b="1" dirty="0">
                <a:solidFill>
                  <a:srgbClr val="0F172A"/>
                </a:solidFill>
              </a:rPr>
              <a:t>Spatial Distance Check: </a:t>
            </a:r>
            <a:r>
              <a:rPr sz="2000" dirty="0">
                <a:solidFill>
                  <a:srgbClr val="334155"/>
                </a:solidFill>
              </a:rPr>
              <a:t>Calculates Euclidean distance between bag centroid (</a:t>
            </a:r>
            <a:r>
              <a:rPr sz="2000" dirty="0" err="1">
                <a:solidFill>
                  <a:srgbClr val="334155"/>
                </a:solidFill>
              </a:rPr>
              <a:t>bcx</a:t>
            </a:r>
            <a:r>
              <a:rPr sz="2000" dirty="0">
                <a:solidFill>
                  <a:srgbClr val="334155"/>
                </a:solidFill>
              </a:rPr>
              <a:t>, </a:t>
            </a:r>
            <a:r>
              <a:rPr sz="2000" dirty="0" err="1">
                <a:solidFill>
                  <a:srgbClr val="334155"/>
                </a:solidFill>
              </a:rPr>
              <a:t>bcy</a:t>
            </a:r>
            <a:r>
              <a:rPr sz="2000" dirty="0">
                <a:solidFill>
                  <a:srgbClr val="334155"/>
                </a:solidFill>
              </a:rPr>
              <a:t>) and all person centroids (</a:t>
            </a:r>
            <a:r>
              <a:rPr sz="2000" dirty="0" err="1">
                <a:solidFill>
                  <a:srgbClr val="334155"/>
                </a:solidFill>
              </a:rPr>
              <a:t>pcx</a:t>
            </a:r>
            <a:r>
              <a:rPr sz="2000" dirty="0">
                <a:solidFill>
                  <a:srgbClr val="334155"/>
                </a:solidFill>
              </a:rPr>
              <a:t>, </a:t>
            </a:r>
            <a:r>
              <a:rPr sz="2000" dirty="0" err="1">
                <a:solidFill>
                  <a:srgbClr val="334155"/>
                </a:solidFill>
              </a:rPr>
              <a:t>pcy</a:t>
            </a:r>
            <a:r>
              <a:rPr sz="2000" dirty="0">
                <a:solidFill>
                  <a:srgbClr val="334155"/>
                </a:solidFill>
              </a:rPr>
              <a:t>).</a:t>
            </a:r>
          </a:p>
          <a:p>
            <a:pPr>
              <a:spcBef>
                <a:spcPts val="1000"/>
              </a:spcBef>
            </a:pPr>
            <a:r>
              <a:rPr sz="2000" b="1" dirty="0">
                <a:solidFill>
                  <a:srgbClr val="0F172A"/>
                </a:solidFill>
              </a:rPr>
              <a:t>Proximity Threshold: </a:t>
            </a:r>
            <a:r>
              <a:rPr sz="2000" dirty="0">
                <a:solidFill>
                  <a:srgbClr val="334155"/>
                </a:solidFill>
              </a:rPr>
              <a:t>If </a:t>
            </a:r>
            <a:r>
              <a:rPr sz="2000" dirty="0" err="1">
                <a:solidFill>
                  <a:srgbClr val="334155"/>
                </a:solidFill>
              </a:rPr>
              <a:t>dist</a:t>
            </a:r>
            <a:r>
              <a:rPr sz="2000" dirty="0">
                <a:solidFill>
                  <a:srgbClr val="334155"/>
                </a:solidFill>
              </a:rPr>
              <a:t> ≤ 150 pixels, the system identifies owner presence.</a:t>
            </a:r>
          </a:p>
          <a:p>
            <a:pPr>
              <a:spcBef>
                <a:spcPts val="1000"/>
              </a:spcBef>
            </a:pPr>
            <a:r>
              <a:rPr sz="2000" b="1" dirty="0">
                <a:solidFill>
                  <a:srgbClr val="0F172A"/>
                </a:solidFill>
              </a:rPr>
              <a:t>State Reset: </a:t>
            </a:r>
            <a:r>
              <a:rPr sz="2000" dirty="0">
                <a:solidFill>
                  <a:srgbClr val="334155"/>
                </a:solidFill>
              </a:rPr>
              <a:t>Disarms alert instantly, resets </a:t>
            </a:r>
            <a:r>
              <a:rPr sz="2000" dirty="0" err="1">
                <a:solidFill>
                  <a:srgbClr val="334155"/>
                </a:solidFill>
              </a:rPr>
              <a:t>first_seen</a:t>
            </a:r>
            <a:r>
              <a:rPr sz="2000" dirty="0">
                <a:solidFill>
                  <a:srgbClr val="334155"/>
                </a:solidFill>
              </a:rPr>
              <a:t> timer, and displays 'OWNER RETURNED' for 90 frames.</a:t>
            </a:r>
          </a:p>
          <a:p>
            <a:pPr>
              <a:spcBef>
                <a:spcPts val="1000"/>
              </a:spcBef>
            </a:pPr>
            <a:r>
              <a:rPr sz="2000" b="1" dirty="0">
                <a:solidFill>
                  <a:srgbClr val="0F172A"/>
                </a:solidFill>
              </a:rPr>
              <a:t>Impact: </a:t>
            </a:r>
            <a:r>
              <a:rPr sz="2000" dirty="0">
                <a:solidFill>
                  <a:srgbClr val="334155"/>
                </a:solidFill>
              </a:rPr>
              <a:t>Drastically reduces false alarms without operator manual intervention</a:t>
            </a:r>
            <a:r>
              <a:rPr sz="1100" dirty="0">
                <a:solidFill>
                  <a:srgbClr val="334155"/>
                </a:solidFill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sz="2000" dirty="0"/>
              <a:t>2. RISK SCORING &amp; SMOOTH TRACKING</a:t>
            </a:r>
          </a:p>
          <a:p>
            <a:pPr>
              <a:spcBef>
                <a:spcPts val="1000"/>
              </a:spcBef>
            </a:pPr>
            <a:r>
              <a:rPr sz="2000" b="1" dirty="0">
                <a:solidFill>
                  <a:srgbClr val="0F172A"/>
                </a:solidFill>
              </a:rPr>
              <a:t>Continuous Risk Equation: </a:t>
            </a:r>
            <a:r>
              <a:rPr sz="2000" dirty="0">
                <a:solidFill>
                  <a:srgbClr val="334155"/>
                </a:solidFill>
              </a:rPr>
              <a:t>Risk Score = min((Elapsed Time / Alert Threshold) × 100, 100)%</a:t>
            </a:r>
          </a:p>
          <a:p>
            <a:pPr>
              <a:spcBef>
                <a:spcPts val="1000"/>
              </a:spcBef>
            </a:pPr>
            <a:r>
              <a:rPr sz="2000" b="1" dirty="0">
                <a:solidFill>
                  <a:srgbClr val="0F172A"/>
                </a:solidFill>
              </a:rPr>
              <a:t>4-Tier Severity Scale: </a:t>
            </a:r>
            <a:r>
              <a:rPr sz="2000" dirty="0">
                <a:solidFill>
                  <a:srgbClr val="334155"/>
                </a:solidFill>
              </a:rPr>
              <a:t>LOW (0-33%), MEDIUM (34-66%), HIGH (67-99%), CRITICAL (100%).</a:t>
            </a:r>
          </a:p>
          <a:p>
            <a:pPr>
              <a:spcBef>
                <a:spcPts val="1000"/>
              </a:spcBef>
            </a:pPr>
            <a:r>
              <a:rPr sz="2000" b="1" dirty="0">
                <a:solidFill>
                  <a:srgbClr val="0F172A"/>
                </a:solidFill>
              </a:rPr>
              <a:t>EMA Bounding Box Smoothing: </a:t>
            </a:r>
            <a:r>
              <a:rPr sz="2000" dirty="0" err="1">
                <a:solidFill>
                  <a:srgbClr val="334155"/>
                </a:solidFill>
              </a:rPr>
              <a:t>smooth_x</a:t>
            </a:r>
            <a:r>
              <a:rPr sz="2000" dirty="0">
                <a:solidFill>
                  <a:srgbClr val="334155"/>
                </a:solidFill>
              </a:rPr>
              <a:t> = 0.75 * </a:t>
            </a:r>
            <a:r>
              <a:rPr sz="2000" dirty="0" err="1">
                <a:solidFill>
                  <a:srgbClr val="334155"/>
                </a:solidFill>
              </a:rPr>
              <a:t>new_x</a:t>
            </a:r>
            <a:r>
              <a:rPr sz="2000" dirty="0">
                <a:solidFill>
                  <a:srgbClr val="334155"/>
                </a:solidFill>
              </a:rPr>
              <a:t> + 0.25 * </a:t>
            </a:r>
            <a:r>
              <a:rPr sz="2000" dirty="0" err="1">
                <a:solidFill>
                  <a:srgbClr val="334155"/>
                </a:solidFill>
              </a:rPr>
              <a:t>old_x</a:t>
            </a:r>
            <a:r>
              <a:rPr sz="2000" dirty="0">
                <a:solidFill>
                  <a:srgbClr val="334155"/>
                </a:solidFill>
              </a:rPr>
              <a:t> (Eliminates frame jitter).</a:t>
            </a:r>
          </a:p>
          <a:p>
            <a:pPr>
              <a:spcBef>
                <a:spcPts val="1000"/>
              </a:spcBef>
            </a:pPr>
            <a:r>
              <a:rPr sz="2000" b="1" dirty="0">
                <a:solidFill>
                  <a:srgbClr val="0F172A"/>
                </a:solidFill>
              </a:rPr>
              <a:t>Occlusion Buffer: </a:t>
            </a:r>
            <a:r>
              <a:rPr sz="2000" dirty="0">
                <a:solidFill>
                  <a:srgbClr val="334155"/>
                </a:solidFill>
              </a:rPr>
              <a:t>Retains tracks for up to 3.0s if object is momentarily blocked.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onsolas"/>
              </a:defRPr>
            </a:pPr>
            <a:r>
              <a:t>SENTINEL AI — PUBLIC SAFETY SURVEILLANCE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Desktop Application &amp; User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000" b="1" dirty="0">
                <a:solidFill>
                  <a:srgbClr val="0D9488"/>
                </a:solidFill>
              </a:rPr>
              <a:t>Live OpenCV Video HUD
</a:t>
            </a:r>
            <a:r>
              <a:rPr sz="2000" dirty="0">
                <a:solidFill>
                  <a:srgbClr val="334155"/>
                </a:solidFill>
              </a:rPr>
              <a:t>Overlays color-coded bounding boxes, risk badges, dwell timers, and alert banners in real-time.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73152" cy="9144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000" b="1" dirty="0">
                <a:solidFill>
                  <a:srgbClr val="2563EB"/>
                </a:solidFill>
              </a:rPr>
              <a:t>Real-Time Parameter Controls
</a:t>
            </a:r>
            <a:r>
              <a:rPr sz="2000" dirty="0">
                <a:solidFill>
                  <a:srgbClr val="334155"/>
                </a:solidFill>
              </a:rPr>
              <a:t>Interactive sliders allow operators to adjust Alert Thresholds (sec), Loitering Limits, and Confidence Thresholds dynamically.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51760"/>
            <a:ext cx="73152" cy="914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000" b="1" dirty="0">
                <a:solidFill>
                  <a:srgbClr val="D97706"/>
                </a:solidFill>
              </a:rPr>
              <a:t>Embedded Matplotlib Analytics
</a:t>
            </a:r>
            <a:r>
              <a:rPr sz="2000" dirty="0">
                <a:solidFill>
                  <a:srgbClr val="334155"/>
                </a:solidFill>
              </a:rPr>
              <a:t>Displays real-time threat trend graphs (Detections over Time) embedded directly into the </a:t>
            </a:r>
            <a:r>
              <a:rPr sz="2000" dirty="0" err="1">
                <a:solidFill>
                  <a:srgbClr val="334155"/>
                </a:solidFill>
              </a:rPr>
              <a:t>Tkinter</a:t>
            </a:r>
            <a:r>
              <a:rPr sz="2000" dirty="0">
                <a:solidFill>
                  <a:srgbClr val="334155"/>
                </a:solidFill>
              </a:rPr>
              <a:t> GUI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94759"/>
            <a:ext cx="73152" cy="9144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000" b="1" dirty="0">
                <a:solidFill>
                  <a:srgbClr val="7C3AED"/>
                </a:solidFill>
              </a:rPr>
              <a:t>Audio-Visual Alert System
</a:t>
            </a:r>
            <a:r>
              <a:rPr sz="2000" dirty="0">
                <a:solidFill>
                  <a:srgbClr val="334155"/>
                </a:solidFill>
              </a:rPr>
              <a:t>Combines visual HUD flashing with automatic Windows audio siren alerts (</a:t>
            </a:r>
            <a:r>
              <a:rPr sz="2000" dirty="0" err="1">
                <a:solidFill>
                  <a:srgbClr val="334155"/>
                </a:solidFill>
              </a:rPr>
              <a:t>winsound</a:t>
            </a:r>
            <a:r>
              <a:rPr sz="2000" dirty="0">
                <a:solidFill>
                  <a:srgbClr val="334155"/>
                </a:solidFill>
              </a:rPr>
              <a:t> integration).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937759"/>
            <a:ext cx="73152" cy="9144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onsolas"/>
              </a:defRPr>
            </a:pPr>
            <a:r>
              <a:t>SENTINEL AI — PUBLIC SAFETY SURVEILLANCE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Reporting, Audit Logging &amp; Headless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rPr sz="2000" dirty="0"/>
              <a:t>PDF INCIDENT REPORTS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</a:defRPr>
            </a:pPr>
            <a:r>
              <a:rPr sz="2000" dirty="0"/>
              <a:t>• Generated automatically via </a:t>
            </a:r>
            <a:r>
              <a:rPr sz="2000" dirty="0" err="1"/>
              <a:t>reportlab</a:t>
            </a:r>
            <a:br>
              <a:rPr sz="2000" dirty="0"/>
            </a:br>
            <a:r>
              <a:rPr sz="2000" dirty="0"/>
              <a:t>• Includes incident timestamp, risk severity, duration, and frame snapshots</a:t>
            </a:r>
            <a:br>
              <a:rPr sz="2000" dirty="0"/>
            </a:br>
            <a:r>
              <a:rPr sz="2000" dirty="0"/>
              <a:t>• Official documentation for law enforcement and station 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sz="2000" dirty="0"/>
              <a:t>EXCEL SESSION LOGS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</a:defRPr>
            </a:pPr>
            <a:r>
              <a:rPr sz="2000" dirty="0"/>
              <a:t>• Built with </a:t>
            </a:r>
            <a:r>
              <a:rPr sz="2000" dirty="0" err="1"/>
              <a:t>openpyxl</a:t>
            </a:r>
            <a:br>
              <a:rPr sz="2000" dirty="0"/>
            </a:br>
            <a:r>
              <a:rPr sz="2000" dirty="0"/>
              <a:t>• Tracks total bag detections, loitering counts, confidence values, and timestamped events</a:t>
            </a:r>
            <a:br>
              <a:rPr sz="2000" dirty="0"/>
            </a:br>
            <a:r>
              <a:rPr sz="2000" dirty="0"/>
              <a:t>• Enables post-session statistical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rPr sz="2000" dirty="0"/>
              <a:t>HEADLESS ENGINE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</a:defRPr>
            </a:pPr>
            <a:r>
              <a:rPr sz="2000" dirty="0"/>
              <a:t>• test_detection.py script</a:t>
            </a:r>
            <a:br>
              <a:rPr sz="2000" dirty="0"/>
            </a:br>
            <a:r>
              <a:rPr sz="2000" dirty="0"/>
              <a:t>• Simulates processing pipeline without GUI rendering</a:t>
            </a:r>
            <a:br>
              <a:rPr sz="2000" dirty="0"/>
            </a:br>
            <a:r>
              <a:rPr sz="2000" dirty="0"/>
              <a:t>• Allows benchmark testing of detection accuracy &amp; frame rates on test videos.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onsolas"/>
              </a:defRPr>
            </a:pPr>
            <a:r>
              <a:t>SENTINEL AI — PUBLIC SAFETY SURVEILLANCE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Comparative Advantage &amp; Performance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625474"/>
              </p:ext>
            </p:extLst>
          </p:nvPr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rPr sz="1800" dirty="0"/>
                        <a:t>FEATURE / METRIC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rPr sz="1800"/>
                        <a:t>CONVENTIONAL CCTV / MOTION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9488"/>
                          </a:solidFill>
                        </a:defRPr>
                      </a:pPr>
                      <a:r>
                        <a:rPr sz="1800"/>
                        <a:t>SENTINEL AI SYSTEM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</a:defRPr>
                      </a:pPr>
                      <a:r>
                        <a:rPr sz="1800" dirty="0"/>
                        <a:t>Surveillance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</a:defRPr>
                      </a:pPr>
                      <a:r>
                        <a:rPr sz="1800" dirty="0"/>
                        <a:t>Manual Human Operator (Fatigue-prone)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rPr sz="1800"/>
                        <a:t>100% Automated 24/7 Deep Learning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</a:defRPr>
                      </a:pPr>
                      <a:r>
                        <a:rPr sz="1800"/>
                        <a:t>Contextual Awareness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</a:defRPr>
                      </a:pPr>
                      <a:r>
                        <a:rPr sz="1800" dirty="0"/>
                        <a:t>Simple Pixel Motion (High False Alarms)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rPr sz="1800"/>
                        <a:t>Proximity Owner-Return Check (Smart Disarm)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</a:defRPr>
                      </a:pPr>
                      <a:r>
                        <a:rPr sz="1800"/>
                        <a:t>Risk Prioritization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</a:defRPr>
                      </a:pPr>
                      <a:r>
                        <a:rPr sz="1800" dirty="0"/>
                        <a:t>Binary Alert (Motion / No Motion)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rPr sz="1800"/>
                        <a:t>Dynamic 4-Tier Risk Score (0-100% Severity)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</a:defRPr>
                      </a:pPr>
                      <a:r>
                        <a:rPr sz="1800"/>
                        <a:t>Deployment &amp;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</a:defRPr>
                      </a:pPr>
                      <a:r>
                        <a:rPr sz="1800" dirty="0"/>
                        <a:t>High Cloud Streaming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rPr sz="1800" dirty="0"/>
                        <a:t>Edge-Compatible Zero-Cloud Local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onsolas"/>
              </a:defRPr>
            </a:pPr>
            <a:r>
              <a:t>SENTINEL AI — PUBLIC SAFETY SURVEILLANCE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Future Enhancements &amp; Scalability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b="1" dirty="0">
                <a:solidFill>
                  <a:srgbClr val="0D9488"/>
                </a:solidFill>
              </a:rPr>
              <a:t>Multi-Camera Person Re-Identification (Re-ID)
</a:t>
            </a:r>
            <a:r>
              <a:rPr dirty="0">
                <a:solidFill>
                  <a:srgbClr val="334155"/>
                </a:solidFill>
              </a:rPr>
              <a:t>Deploy deep feature embedding networks to track owners across non-overlapping camera feeds in large airports or station terminals.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73152" cy="9144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b="1" dirty="0" err="1">
                <a:solidFill>
                  <a:srgbClr val="2563EB"/>
                </a:solidFill>
              </a:rPr>
              <a:t>TensorRT</a:t>
            </a:r>
            <a:r>
              <a:rPr b="1" dirty="0">
                <a:solidFill>
                  <a:srgbClr val="2563EB"/>
                </a:solidFill>
              </a:rPr>
              <a:t> &amp; GPU Multi-Stream Scaling
</a:t>
            </a:r>
            <a:r>
              <a:rPr dirty="0">
                <a:solidFill>
                  <a:srgbClr val="334155"/>
                </a:solidFill>
              </a:rPr>
              <a:t>Export </a:t>
            </a:r>
            <a:r>
              <a:rPr dirty="0" err="1">
                <a:solidFill>
                  <a:srgbClr val="334155"/>
                </a:solidFill>
              </a:rPr>
              <a:t>PyTorch</a:t>
            </a:r>
            <a:r>
              <a:rPr dirty="0">
                <a:solidFill>
                  <a:srgbClr val="334155"/>
                </a:solidFill>
              </a:rPr>
              <a:t> models to </a:t>
            </a:r>
            <a:r>
              <a:rPr dirty="0" err="1">
                <a:solidFill>
                  <a:srgbClr val="334155"/>
                </a:solidFill>
              </a:rPr>
              <a:t>TensorRT</a:t>
            </a:r>
            <a:r>
              <a:rPr dirty="0">
                <a:solidFill>
                  <a:srgbClr val="334155"/>
                </a:solidFill>
              </a:rPr>
              <a:t> ONNX engines to achieve 60+ FPS processing across 16+ simultaneous 4K camera streams.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51760"/>
            <a:ext cx="73152" cy="914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b="1" dirty="0">
                <a:solidFill>
                  <a:srgbClr val="D97706"/>
                </a:solidFill>
              </a:rPr>
              <a:t>Cloud &amp; Mobile Security Push Notifications
</a:t>
            </a:r>
            <a:r>
              <a:rPr dirty="0">
                <a:solidFill>
                  <a:srgbClr val="334155"/>
                </a:solidFill>
              </a:rPr>
              <a:t>Integrate MQTT / </a:t>
            </a:r>
            <a:r>
              <a:rPr dirty="0" err="1">
                <a:solidFill>
                  <a:srgbClr val="334155"/>
                </a:solidFill>
              </a:rPr>
              <a:t>WebSockets</a:t>
            </a:r>
            <a:r>
              <a:rPr dirty="0">
                <a:solidFill>
                  <a:srgbClr val="334155"/>
                </a:solidFill>
              </a:rPr>
              <a:t> gateway to push instant critical risk alerts and video snapshots directly to security officers' mobile apps.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94759"/>
            <a:ext cx="73152" cy="9144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b="1" dirty="0">
                <a:solidFill>
                  <a:srgbClr val="7C3AED"/>
                </a:solidFill>
              </a:rPr>
              <a:t>Automated PTZ Camera Tracking
</a:t>
            </a:r>
            <a:r>
              <a:rPr dirty="0">
                <a:solidFill>
                  <a:srgbClr val="334155"/>
                </a:solidFill>
              </a:rPr>
              <a:t>Send pan-tilt-zoom motor commands to cameras to automatically zoom in and isolate identified high-risk unattended bags.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937759"/>
            <a:ext cx="73152" cy="9144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0D9488"/>
                </a:solidFill>
                <a:latin typeface="Consolas"/>
              </a:defRPr>
            </a:pPr>
            <a:r>
              <a:t>THANK YOU!</a:t>
            </a:r>
          </a:p>
          <a:p>
            <a:pPr algn="ctr">
              <a:spcBef>
                <a:spcPts val="1500"/>
              </a:spcBef>
              <a:defRPr sz="1800" b="1">
                <a:solidFill>
                  <a:srgbClr val="0F172A"/>
                </a:solidFill>
              </a:defRPr>
            </a:pPr>
            <a:r>
              <a:t>SENTINEL AI — Public Safety Surveillance &amp; Automated Threat Detection System</a:t>
            </a:r>
          </a:p>
          <a:p>
            <a:pPr algn="ctr">
              <a:spcBef>
                <a:spcPts val="2500"/>
              </a:spcBef>
              <a:defRPr sz="1400">
                <a:solidFill>
                  <a:srgbClr val="64748B"/>
                </a:solidFill>
              </a:defRPr>
            </a:pPr>
            <a:r>
              <a:t>Open for Questions &amp; Academic Evaluation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463040" y="1417320"/>
            <a:ext cx="9265615" cy="7315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1132</Words>
  <Application>Microsoft Office PowerPoint</Application>
  <PresentationFormat>Widescreen</PresentationFormat>
  <Paragraphs>119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 chi Di</cp:lastModifiedBy>
  <cp:revision>4</cp:revision>
  <dcterms:created xsi:type="dcterms:W3CDTF">2013-01-27T09:14:16Z</dcterms:created>
  <dcterms:modified xsi:type="dcterms:W3CDTF">2026-08-12T10:09:55Z</dcterms:modified>
  <cp:category/>
</cp:coreProperties>
</file>