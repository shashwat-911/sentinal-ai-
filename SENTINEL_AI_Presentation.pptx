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00FF88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FF88"/>
                </a:solidFill>
                <a:latin typeface="Consolas"/>
              </a:defRPr>
            </a:pPr>
            <a:r>
              <a:t>SENTINEL AI</a:t>
            </a:r>
          </a:p>
          <a:p>
            <a:pPr>
              <a:spcBef>
                <a:spcPts val="1000"/>
              </a:spcBef>
              <a:defRPr sz="2400" b="1">
                <a:solidFill>
                  <a:srgbClr val="E6E6E6"/>
                </a:solidFill>
                <a:latin typeface="Arial"/>
              </a:defRPr>
            </a:pPr>
            <a:r>
              <a:t>Automated Public Safety &amp; Threat Detection System</a:t>
            </a:r>
          </a:p>
          <a:p>
            <a:pPr>
              <a:spcBef>
                <a:spcPts val="1000"/>
              </a:spcBef>
              <a:defRPr sz="1500">
                <a:solidFill>
                  <a:srgbClr val="969696"/>
                </a:solidFill>
                <a:latin typeface="Arial"/>
              </a:defRPr>
            </a:pPr>
            <a:r>
              <a:t>Real-Time Unattended Luggage Detection &amp; Loitering Monitoring Engine</a:t>
            </a:r>
          </a:p>
          <a:p>
            <a:pPr>
              <a:spcBef>
                <a:spcPts val="3000"/>
              </a:spcBef>
              <a:defRPr sz="1300">
                <a:solidFill>
                  <a:srgbClr val="00C8FF"/>
                </a:solidFill>
                <a:latin typeface="Consolas"/>
              </a:defRPr>
            </a:pPr>
            <a:r>
              <a:t>Presented for Final Year Project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F88"/>
                </a:solidFill>
                <a:latin typeface="Consolas"/>
              </a:defRPr>
            </a:pPr>
            <a:r>
              <a:t>SENTINEL AI — FINAL YEAR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6E6E6"/>
                </a:solidFill>
                <a:latin typeface="Arial"/>
              </a:defRPr>
            </a:pPr>
            <a:r>
              <a:t>Problem Statement &amp;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181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AA00"/>
                </a:solidFill>
              </a:defRPr>
            </a:pPr>
            <a:r>
              <a:t>CHALLENGES IN MANUAL SURVEILLANCE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E6E6E6"/>
                </a:solidFill>
              </a:rPr>
              <a:t>Operator Fatigue: </a:t>
            </a:r>
            <a:r>
              <a:rPr sz="1100">
                <a:solidFill>
                  <a:srgbClr val="969696"/>
                </a:solidFill>
              </a:rPr>
              <a:t>CCTV monitors in transit hubs suffer from attention decay after 20 minutes of continuous viewing.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E6E6E6"/>
                </a:solidFill>
              </a:rPr>
              <a:t>High Threat Blindspots: </a:t>
            </a:r>
            <a:r>
              <a:rPr sz="1100">
                <a:solidFill>
                  <a:srgbClr val="969696"/>
                </a:solidFill>
              </a:rPr>
              <a:t>Unattended baggage in crowded areas can go unnoticed until critical time has elapsed.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E6E6E6"/>
                </a:solidFill>
              </a:rPr>
              <a:t>False Alarm Overload: </a:t>
            </a:r>
            <a:r>
              <a:rPr sz="1100">
                <a:solidFill>
                  <a:srgbClr val="969696"/>
                </a:solidFill>
              </a:rPr>
              <a:t>Traditional motion detectors trigger alerts continuously without understanding context (e.g. owners briefly stepping away).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181C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F88"/>
                </a:solidFill>
              </a:defRPr>
            </a:pPr>
            <a:r>
              <a:t>PROJECT OBJECTIVES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E6E6E6"/>
                </a:solidFill>
              </a:rPr>
              <a:t>Automated Threat Detection: </a:t>
            </a:r>
            <a:r>
              <a:rPr sz="1100">
                <a:solidFill>
                  <a:srgbClr val="969696"/>
                </a:solidFill>
              </a:rPr>
              <a:t>Deploy deep learning models to automatically isolate luggage and human targets.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E6E6E6"/>
                </a:solidFill>
              </a:rPr>
              <a:t>Temporal &amp; Spatial Tracking: </a:t>
            </a:r>
            <a:r>
              <a:rPr sz="1100">
                <a:solidFill>
                  <a:srgbClr val="969696"/>
                </a:solidFill>
              </a:rPr>
              <a:t>Track dwell times and calculate real-time unattended risk scores (0–100%).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E6E6E6"/>
                </a:solidFill>
              </a:rPr>
              <a:t>Smart Owner-Return Cancellation: </a:t>
            </a:r>
            <a:r>
              <a:rPr sz="1100">
                <a:solidFill>
                  <a:srgbClr val="969696"/>
                </a:solidFill>
              </a:rPr>
              <a:t>Reduce false positives by disarming alerts when owners return within proximity.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E6E6E6"/>
                </a:solidFill>
              </a:rPr>
              <a:t>Auditable Reporting: </a:t>
            </a:r>
            <a:r>
              <a:rPr sz="1100">
                <a:solidFill>
                  <a:srgbClr val="969696"/>
                </a:solidFill>
              </a:rPr>
              <a:t>Generate instant PDF incident reports and structured Excel audit logs for security teams.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F88"/>
                </a:solidFill>
                <a:latin typeface="Consolas"/>
              </a:defRPr>
            </a:pPr>
            <a:r>
              <a:t>SENTINEL AI — FINAL YEAR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6E6E6"/>
                </a:solidFill>
                <a:latin typeface="Arial"/>
              </a:defRPr>
            </a:pPr>
            <a:r>
              <a:t>System Architecture &amp; Modular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16181C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00FF88"/>
                </a:solidFill>
                <a:latin typeface="Consolas"/>
              </a:rPr>
              <a:t>DUAL INFERENCE ENGINE  ➔  </a:t>
            </a:r>
            <a:r>
              <a:rPr sz="1200">
                <a:solidFill>
                  <a:srgbClr val="E6E6E6"/>
                </a:solidFill>
              </a:rPr>
              <a:t>YOLO Luggage Model (best.pt) + Pretrained YOLOv9s Person Model (COCO Class 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16181C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00C8FF"/>
                </a:solidFill>
                <a:latin typeface="Consolas"/>
              </a:rPr>
              <a:t>CENTROID TRACKER  ➔  </a:t>
            </a:r>
            <a:r>
              <a:rPr sz="1200">
                <a:solidFill>
                  <a:srgbClr val="E6E6E6"/>
                </a:solidFill>
              </a:rPr>
              <a:t>Multi-object ID assignment with Exponential Moving Average (EMA) spatial smoothing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16181C"/>
          </a:solidFill>
          <a:ln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FAA00"/>
                </a:solidFill>
                <a:latin typeface="Consolas"/>
              </a:rPr>
              <a:t>RISK ANALYSIS ENGINE  ➔  </a:t>
            </a:r>
            <a:r>
              <a:rPr sz="1200">
                <a:solidFill>
                  <a:srgbClr val="E6E6E6"/>
                </a:solidFill>
              </a:rPr>
              <a:t>Dwell time counter, 4-tier risk severity scoring &amp; Proximity owner-return checker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16181C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00FF88"/>
                </a:solidFill>
                <a:latin typeface="Consolas"/>
              </a:rPr>
              <a:t>GUI DASHBOARD  ➔  </a:t>
            </a:r>
            <a:r>
              <a:rPr sz="1200">
                <a:solidFill>
                  <a:srgbClr val="E6E6E6"/>
                </a:solidFill>
              </a:rPr>
              <a:t>Tkinter desktop HUD, live OpenCV video player, parameter controls &amp; Matplotlib graphs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16181C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00C8FF"/>
                </a:solidFill>
                <a:latin typeface="Consolas"/>
              </a:rPr>
              <a:t>AUDIT &amp; REPORTING  ➔  </a:t>
            </a:r>
            <a:r>
              <a:rPr sz="1200">
                <a:solidFill>
                  <a:srgbClr val="E6E6E6"/>
                </a:solidFill>
              </a:rPr>
              <a:t>Automated PDF incident generator (reportlab) &amp; session Excel logger (openpyxl)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F88"/>
                </a:solidFill>
                <a:latin typeface="Consolas"/>
              </a:defRPr>
            </a:pPr>
            <a:r>
              <a:t>SENTINEL AI — FINAL YEAR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6E6E6"/>
                </a:solidFill>
                <a:latin typeface="Arial"/>
              </a:defRPr>
            </a:pPr>
            <a:r>
              <a:t>Ingestion &amp; Processing Pipeline (5 Phases)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965960" cy="4389120"/>
          </a:xfrm>
          <a:prstGeom prst="roundRect">
            <a:avLst/>
          </a:prstGeom>
          <a:solidFill>
            <a:srgbClr val="16181C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F88"/>
                </a:solidFill>
                <a:latin typeface="Consolas"/>
              </a:defRPr>
            </a:pPr>
            <a:r>
              <a:t>PHASE 1</a:t>
            </a:r>
          </a:p>
          <a:p>
            <a:pPr>
              <a:spcBef>
                <a:spcPts val="800"/>
              </a:spcBef>
              <a:defRPr sz="1400" b="1">
                <a:solidFill>
                  <a:srgbClr val="E6E6E6"/>
                </a:solidFill>
              </a:defRPr>
            </a:pPr>
            <a:r>
              <a:t>Ingestion</a:t>
            </a:r>
          </a:p>
          <a:p>
            <a:pPr>
              <a:spcBef>
                <a:spcPts val="1200"/>
              </a:spcBef>
              <a:defRPr sz="1100">
                <a:solidFill>
                  <a:srgbClr val="969696"/>
                </a:solidFill>
              </a:defRPr>
            </a:pPr>
            <a:r>
              <a:t>OpenCV reads webcam, RTSP stream, or video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1965960" cy="4389120"/>
          </a:xfrm>
          <a:prstGeom prst="roundRect">
            <a:avLst/>
          </a:prstGeom>
          <a:solidFill>
            <a:srgbClr val="16181C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F88"/>
                </a:solidFill>
                <a:latin typeface="Consolas"/>
              </a:defRPr>
            </a:pPr>
            <a:r>
              <a:t>PHASE 2</a:t>
            </a:r>
          </a:p>
          <a:p>
            <a:pPr>
              <a:spcBef>
                <a:spcPts val="800"/>
              </a:spcBef>
              <a:defRPr sz="1400" b="1">
                <a:solidFill>
                  <a:srgbClr val="E6E6E6"/>
                </a:solidFill>
              </a:defRPr>
            </a:pPr>
            <a:r>
              <a:t>Dual Inference</a:t>
            </a:r>
          </a:p>
          <a:p>
            <a:pPr>
              <a:spcBef>
                <a:spcPts val="1200"/>
              </a:spcBef>
              <a:defRPr sz="1100">
                <a:solidFill>
                  <a:srgbClr val="969696"/>
                </a:solidFill>
              </a:defRPr>
            </a:pPr>
            <a:r>
              <a:t>Passes frame to Bag &amp; Person YOLO detectors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1965960" cy="4389120"/>
          </a:xfrm>
          <a:prstGeom prst="roundRect">
            <a:avLst/>
          </a:prstGeom>
          <a:solidFill>
            <a:srgbClr val="16181C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F88"/>
                </a:solidFill>
                <a:latin typeface="Consolas"/>
              </a:defRPr>
            </a:pPr>
            <a:r>
              <a:t>PHASE 3</a:t>
            </a:r>
          </a:p>
          <a:p>
            <a:pPr>
              <a:spcBef>
                <a:spcPts val="800"/>
              </a:spcBef>
              <a:defRPr sz="1400" b="1">
                <a:solidFill>
                  <a:srgbClr val="E6E6E6"/>
                </a:solidFill>
              </a:defRPr>
            </a:pPr>
            <a:r>
              <a:t>Centroid Tracking</a:t>
            </a:r>
          </a:p>
          <a:p>
            <a:pPr>
              <a:spcBef>
                <a:spcPts val="1200"/>
              </a:spcBef>
              <a:defRPr sz="1100">
                <a:solidFill>
                  <a:srgbClr val="969696"/>
                </a:solidFill>
              </a:defRPr>
            </a:pPr>
            <a:r>
              <a:t>Assigns persistent IDs &amp; applies EMA smoothing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45920"/>
            <a:ext cx="1965960" cy="4389120"/>
          </a:xfrm>
          <a:prstGeom prst="roundRect">
            <a:avLst/>
          </a:prstGeom>
          <a:solidFill>
            <a:srgbClr val="16181C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F88"/>
                </a:solidFill>
                <a:latin typeface="Consolas"/>
              </a:defRPr>
            </a:pPr>
            <a:r>
              <a:t>PHASE 4</a:t>
            </a:r>
          </a:p>
          <a:p>
            <a:pPr>
              <a:spcBef>
                <a:spcPts val="800"/>
              </a:spcBef>
              <a:defRPr sz="1400" b="1">
                <a:solidFill>
                  <a:srgbClr val="E6E6E6"/>
                </a:solidFill>
              </a:defRPr>
            </a:pPr>
            <a:r>
              <a:t>Risk Analysis</a:t>
            </a:r>
          </a:p>
          <a:p>
            <a:pPr>
              <a:spcBef>
                <a:spcPts val="1200"/>
              </a:spcBef>
              <a:defRPr sz="1100">
                <a:solidFill>
                  <a:srgbClr val="969696"/>
                </a:solidFill>
              </a:defRPr>
            </a:pPr>
            <a:r>
              <a:t>Calculates dwell time &amp; checks owner proximity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645920"/>
            <a:ext cx="1965960" cy="4389120"/>
          </a:xfrm>
          <a:prstGeom prst="roundRect">
            <a:avLst/>
          </a:prstGeom>
          <a:solidFill>
            <a:srgbClr val="16181C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F88"/>
                </a:solidFill>
                <a:latin typeface="Consolas"/>
              </a:defRPr>
            </a:pPr>
            <a:r>
              <a:t>PHASE 5</a:t>
            </a:r>
          </a:p>
          <a:p>
            <a:pPr>
              <a:spcBef>
                <a:spcPts val="800"/>
              </a:spcBef>
              <a:defRPr sz="1400" b="1">
                <a:solidFill>
                  <a:srgbClr val="E6E6E6"/>
                </a:solidFill>
              </a:defRPr>
            </a:pPr>
            <a:r>
              <a:t>HUD &amp; Reporting</a:t>
            </a:r>
          </a:p>
          <a:p>
            <a:pPr>
              <a:spcBef>
                <a:spcPts val="1200"/>
              </a:spcBef>
              <a:defRPr sz="1100">
                <a:solidFill>
                  <a:srgbClr val="969696"/>
                </a:solidFill>
              </a:defRPr>
            </a:pPr>
            <a:r>
              <a:t>Draws dynamic overlay, triggers alarms &amp; PDF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F88"/>
                </a:solidFill>
                <a:latin typeface="Consolas"/>
              </a:defRPr>
            </a:pPr>
            <a:r>
              <a:t>SENTINEL AI — FINAL YEAR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6E6E6"/>
                </a:solidFill>
                <a:latin typeface="Arial"/>
              </a:defRPr>
            </a:pPr>
            <a:r>
              <a:t>Core Algorithms &amp; Key Technical Innovations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181C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F88"/>
                </a:solidFill>
              </a:defRPr>
            </a:pPr>
            <a:r>
              <a:t>1. PROXIMITY OWNER-RETURN ALGORITHM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E6E6E6"/>
                </a:solidFill>
              </a:rPr>
              <a:t>Spatial Distance Check: </a:t>
            </a:r>
            <a:r>
              <a:rPr sz="1100">
                <a:solidFill>
                  <a:srgbClr val="969696"/>
                </a:solidFill>
              </a:rPr>
              <a:t>Calculates Euclidean distance between bag centroid (bcx, bcy) and all person centroids (pcx, pcy).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E6E6E6"/>
                </a:solidFill>
              </a:rPr>
              <a:t>Proximity Threshold: </a:t>
            </a:r>
            <a:r>
              <a:rPr sz="1100">
                <a:solidFill>
                  <a:srgbClr val="969696"/>
                </a:solidFill>
              </a:rPr>
              <a:t>If dist ≤ 150 pixels, the system identifies owner presence.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E6E6E6"/>
                </a:solidFill>
              </a:rPr>
              <a:t>State Reset: </a:t>
            </a:r>
            <a:r>
              <a:rPr sz="1100">
                <a:solidFill>
                  <a:srgbClr val="969696"/>
                </a:solidFill>
              </a:rPr>
              <a:t>Disarms alert instantly, resets first_seen timer, and displays 'OWNER RETURNED' for 90 frames.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E6E6E6"/>
                </a:solidFill>
              </a:rPr>
              <a:t>Impact: </a:t>
            </a:r>
            <a:r>
              <a:rPr sz="1100">
                <a:solidFill>
                  <a:srgbClr val="969696"/>
                </a:solidFill>
              </a:rPr>
              <a:t>Drastically reduces false alarms without operator manual intervention.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181C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C8FF"/>
                </a:solidFill>
              </a:defRPr>
            </a:pPr>
            <a:r>
              <a:t>2. RISK SCORING &amp; SMOOTH TRACKING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E6E6E6"/>
                </a:solidFill>
              </a:rPr>
              <a:t>Continuous Risk Equation: </a:t>
            </a:r>
            <a:r>
              <a:rPr sz="1100">
                <a:solidFill>
                  <a:srgbClr val="969696"/>
                </a:solidFill>
              </a:rPr>
              <a:t>Risk Score = min((Elapsed Time / Alert Threshold) × 100, 100)%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E6E6E6"/>
                </a:solidFill>
              </a:rPr>
              <a:t>4-Tier Severity Scale: </a:t>
            </a:r>
            <a:r>
              <a:rPr sz="1100">
                <a:solidFill>
                  <a:srgbClr val="969696"/>
                </a:solidFill>
              </a:rPr>
              <a:t>LOW (0-33%), MEDIUM (34-66%), HIGH (67-99%), CRITICAL (100%).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E6E6E6"/>
                </a:solidFill>
              </a:rPr>
              <a:t>EMA Bounding Box Smoothing: </a:t>
            </a:r>
            <a:r>
              <a:rPr sz="1100">
                <a:solidFill>
                  <a:srgbClr val="969696"/>
                </a:solidFill>
              </a:rPr>
              <a:t>smooth_x = 0.75 * new_x + 0.25 * old_x (Eliminates frame jitter).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E6E6E6"/>
                </a:solidFill>
              </a:rPr>
              <a:t>Occlusion Buffer: </a:t>
            </a:r>
            <a:r>
              <a:rPr sz="1100">
                <a:solidFill>
                  <a:srgbClr val="969696"/>
                </a:solidFill>
              </a:rPr>
              <a:t>Retains tracks for up to 3.0s if object is momentarily blocked.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F88"/>
                </a:solidFill>
                <a:latin typeface="Consolas"/>
              </a:defRPr>
            </a:pPr>
            <a:r>
              <a:t>SENTINEL AI — FINAL YEAR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6E6E6"/>
                </a:solidFill>
                <a:latin typeface="Arial"/>
              </a:defRPr>
            </a:pPr>
            <a:r>
              <a:t>Desktop Application &amp; User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16181C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00FF88"/>
                </a:solidFill>
              </a:rPr>
              <a:t>Live OpenCV Video HUD
</a:t>
            </a:r>
            <a:r>
              <a:rPr sz="1100">
                <a:solidFill>
                  <a:srgbClr val="E6E6E6"/>
                </a:solidFill>
              </a:rPr>
              <a:t>Overlays color-coded bounding boxes, risk badges, dwell timers, and alert banners in real-time.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698480" cy="1005840"/>
          </a:xfrm>
          <a:prstGeom prst="roundRect">
            <a:avLst/>
          </a:prstGeom>
          <a:solidFill>
            <a:srgbClr val="16181C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00C8FF"/>
                </a:solidFill>
              </a:rPr>
              <a:t>Real-Time Parameter Controls
</a:t>
            </a:r>
            <a:r>
              <a:rPr sz="1100">
                <a:solidFill>
                  <a:srgbClr val="E6E6E6"/>
                </a:solidFill>
              </a:rPr>
              <a:t>Interactive sliders allow operators to adjust Alert Thresholds (sec), Loitering Limits, and Confidence Thresholds dynamically.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10698480" cy="1005840"/>
          </a:xfrm>
          <a:prstGeom prst="roundRect">
            <a:avLst/>
          </a:prstGeom>
          <a:solidFill>
            <a:srgbClr val="16181C"/>
          </a:solidFill>
          <a:ln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AA00"/>
                </a:solidFill>
              </a:rPr>
              <a:t>Embedded Matplotlib Analytics
</a:t>
            </a:r>
            <a:r>
              <a:rPr sz="1100">
                <a:solidFill>
                  <a:srgbClr val="E6E6E6"/>
                </a:solidFill>
              </a:rPr>
              <a:t>Displays real-time threat trend graphs (Detections over Time) embedded directly into the Tkinter GUI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92040"/>
            <a:ext cx="10698480" cy="1005840"/>
          </a:xfrm>
          <a:prstGeom prst="roundRect">
            <a:avLst/>
          </a:prstGeom>
          <a:solidFill>
            <a:srgbClr val="16181C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00FF88"/>
                </a:solidFill>
              </a:rPr>
              <a:t>Audio-Visual Alert System
</a:t>
            </a:r>
            <a:r>
              <a:rPr sz="1100">
                <a:solidFill>
                  <a:srgbClr val="E6E6E6"/>
                </a:solidFill>
              </a:rPr>
              <a:t>Combines visual HUD flashing with automatic Windows audio siren alerts (winsound integration).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F88"/>
                </a:solidFill>
                <a:latin typeface="Consolas"/>
              </a:defRPr>
            </a:pPr>
            <a:r>
              <a:t>SENTINEL AI — FINAL YEAR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6E6E6"/>
                </a:solidFill>
                <a:latin typeface="Arial"/>
              </a:defRPr>
            </a:pPr>
            <a:r>
              <a:t>Reporting, Audit Logging &amp; Headless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6181C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F88"/>
                </a:solidFill>
              </a:defRPr>
            </a:pPr>
            <a:r>
              <a:t>PDF INCIDENT REPORTS</a:t>
            </a:r>
          </a:p>
          <a:p>
            <a:pPr>
              <a:spcBef>
                <a:spcPts val="1200"/>
              </a:spcBef>
              <a:defRPr sz="1100">
                <a:solidFill>
                  <a:srgbClr val="E6E6E6"/>
                </a:solidFill>
              </a:defRPr>
            </a:pPr>
            <a:r>
              <a:t>• Generated automatically via reportlab</a:t>
            </a:r>
            <a:br/>
            <a:r>
              <a:t>• Includes incident timestamp, risk severity, duration, and frame snapshots</a:t>
            </a:r>
            <a:br/>
            <a:r>
              <a:t>• Official documentation for law enforcement and station security.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6181C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C8FF"/>
                </a:solidFill>
              </a:defRPr>
            </a:pPr>
            <a:r>
              <a:t>EXCEL SESSION LOGS</a:t>
            </a:r>
          </a:p>
          <a:p>
            <a:pPr>
              <a:spcBef>
                <a:spcPts val="1200"/>
              </a:spcBef>
              <a:defRPr sz="1100">
                <a:solidFill>
                  <a:srgbClr val="E6E6E6"/>
                </a:solidFill>
              </a:defRPr>
            </a:pPr>
            <a:r>
              <a:t>• Built with openpyxl</a:t>
            </a:r>
            <a:br/>
            <a:r>
              <a:t>• Tracks total bag detections, loitering counts, confidence values, and timestamped events</a:t>
            </a:r>
            <a:br/>
            <a:r>
              <a:t>• Enables post-session statistical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6181C"/>
          </a:solidFill>
          <a:ln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AA00"/>
                </a:solidFill>
              </a:defRPr>
            </a:pPr>
            <a:r>
              <a:t>HEADLESS ENGINE</a:t>
            </a:r>
          </a:p>
          <a:p>
            <a:pPr>
              <a:spcBef>
                <a:spcPts val="1200"/>
              </a:spcBef>
              <a:defRPr sz="1100">
                <a:solidFill>
                  <a:srgbClr val="E6E6E6"/>
                </a:solidFill>
              </a:defRPr>
            </a:pPr>
            <a:r>
              <a:t>• test_detection.py script</a:t>
            </a:r>
            <a:br/>
            <a:r>
              <a:t>• Simulates processing pipeline without GUI rendering</a:t>
            </a:r>
            <a:br/>
            <a:r>
              <a:t>• Allows benchmark testing of detection accuracy &amp; frame rates on test videos.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F88"/>
                </a:solidFill>
                <a:latin typeface="Consolas"/>
              </a:defRPr>
            </a:pPr>
            <a:r>
              <a:t>SENTINEL AI — FINAL YEAR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6E6E6"/>
                </a:solidFill>
                <a:latin typeface="Arial"/>
              </a:defRPr>
            </a:pPr>
            <a:r>
              <a:t>Comparative Advantage &amp; Performance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87782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E6E6E6"/>
                          </a:solidFill>
                        </a:defRPr>
                      </a:pPr>
                      <a:r>
                        <a:t>FEATURE / METRIC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E6E6E6"/>
                          </a:solidFill>
                        </a:defRPr>
                      </a:pPr>
                      <a:r>
                        <a:t>CONVENTIONAL CCTV / MOTION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FF88"/>
                          </a:solidFill>
                        </a:defRPr>
                      </a:pPr>
                      <a:r>
                        <a:t>SENTINEL AI SYSTEM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6E6"/>
                          </a:solidFill>
                        </a:defRPr>
                      </a:pPr>
                      <a:r>
                        <a:t>Surveillance Model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6E6"/>
                          </a:solidFill>
                        </a:defRPr>
                      </a:pPr>
                      <a:r>
                        <a:t>Manual Human Operator (Fatigue-prone)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FF88"/>
                          </a:solidFill>
                        </a:defRPr>
                      </a:pPr>
                      <a:r>
                        <a:t>100% Automated 24/7 Deep Learning Pipeline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6E6"/>
                          </a:solidFill>
                        </a:defRPr>
                      </a:pPr>
                      <a:r>
                        <a:t>Contextual Awareness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6E6"/>
                          </a:solidFill>
                        </a:defRPr>
                      </a:pPr>
                      <a:r>
                        <a:t>Simple Pixel Motion (High False Alarms)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FF88"/>
                          </a:solidFill>
                        </a:defRPr>
                      </a:pPr>
                      <a:r>
                        <a:t>Proximity Owner-Return Check (Smart Disarm)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6E6"/>
                          </a:solidFill>
                        </a:defRPr>
                      </a:pPr>
                      <a:r>
                        <a:t>Risk Prioritization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6E6"/>
                          </a:solidFill>
                        </a:defRPr>
                      </a:pPr>
                      <a:r>
                        <a:t>Binary Alert (Motion / No Motion)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FF88"/>
                          </a:solidFill>
                        </a:defRPr>
                      </a:pPr>
                      <a:r>
                        <a:t>Dynamic 4-Tier Risk Score (0-100% Severity)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6E6"/>
                          </a:solidFill>
                        </a:defRPr>
                      </a:pPr>
                      <a:r>
                        <a:t>Deployment &amp; Cost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6E6"/>
                          </a:solidFill>
                        </a:defRPr>
                      </a:pPr>
                      <a:r>
                        <a:t>High Cloud Streaming Costs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FF88"/>
                          </a:solidFill>
                        </a:defRPr>
                      </a:pPr>
                      <a:r>
                        <a:t>Edge-Compatible Zero-Cloud Local Execution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F88"/>
                </a:solidFill>
                <a:latin typeface="Consolas"/>
              </a:defRPr>
            </a:pPr>
            <a:r>
              <a:t>SENTINEL AI — FINAL YEAR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6E6E6"/>
                </a:solidFill>
                <a:latin typeface="Arial"/>
              </a:defRPr>
            </a:pPr>
            <a:r>
              <a:t>Future Enhancements &amp; Scalability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16181C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00FF88"/>
                </a:solidFill>
              </a:rPr>
              <a:t>Multi-Camera Person Re-Identification (Re-ID)
</a:t>
            </a:r>
            <a:r>
              <a:rPr sz="1100">
                <a:solidFill>
                  <a:srgbClr val="E6E6E6"/>
                </a:solidFill>
              </a:rPr>
              <a:t>Deploy deep feature embedding networks to track owners across non-overlapping camera feeds in large airports or station terminals.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698480" cy="1005840"/>
          </a:xfrm>
          <a:prstGeom prst="roundRect">
            <a:avLst/>
          </a:prstGeom>
          <a:solidFill>
            <a:srgbClr val="16181C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00C8FF"/>
                </a:solidFill>
              </a:rPr>
              <a:t>TensorRT &amp; GPU Multi-Stream Scaling
</a:t>
            </a:r>
            <a:r>
              <a:rPr sz="1100">
                <a:solidFill>
                  <a:srgbClr val="E6E6E6"/>
                </a:solidFill>
              </a:rPr>
              <a:t>Export PyTorch models to TensorRT ONNX engines to achieve 60+ FPS processing across 16+ simultaneous 4K camera streams.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10698480" cy="1005840"/>
          </a:xfrm>
          <a:prstGeom prst="roundRect">
            <a:avLst/>
          </a:prstGeom>
          <a:solidFill>
            <a:srgbClr val="16181C"/>
          </a:solidFill>
          <a:ln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FAA00"/>
                </a:solidFill>
              </a:rPr>
              <a:t>Cloud &amp; Mobile Security Push Notifications
</a:t>
            </a:r>
            <a:r>
              <a:rPr sz="1100">
                <a:solidFill>
                  <a:srgbClr val="E6E6E6"/>
                </a:solidFill>
              </a:rPr>
              <a:t>Integrate MQTT / WebSockets gateway to push instant critical risk alerts and video snapshots directly to security officers' mobile apps.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92040"/>
            <a:ext cx="10698480" cy="1005840"/>
          </a:xfrm>
          <a:prstGeom prst="roundRect">
            <a:avLst/>
          </a:prstGeom>
          <a:solidFill>
            <a:srgbClr val="16181C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00FF88"/>
                </a:solidFill>
              </a:rPr>
              <a:t>Automated PTZ Camera Tracking
</a:t>
            </a:r>
            <a:r>
              <a:rPr sz="1100">
                <a:solidFill>
                  <a:srgbClr val="E6E6E6"/>
                </a:solidFill>
              </a:rPr>
              <a:t>Send pan-tilt-zoom motor commands to cameras to automatically zoom in and isolate identified high-risk unattended bags.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6181C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FF88"/>
                </a:solidFill>
                <a:latin typeface="Consolas"/>
              </a:defRPr>
            </a:pPr>
            <a:r>
              <a:t>THANK YOU!</a:t>
            </a:r>
          </a:p>
          <a:p>
            <a:pPr algn="ctr">
              <a:spcBef>
                <a:spcPts val="1500"/>
              </a:spcBef>
              <a:defRPr sz="1800" b="1">
                <a:solidFill>
                  <a:srgbClr val="E6E6E6"/>
                </a:solidFill>
              </a:defRPr>
            </a:pPr>
            <a:r>
              <a:t>SENTINEL AI — Public Safety &amp; Automated Threat Detection System</a:t>
            </a:r>
          </a:p>
          <a:p>
            <a:pPr algn="ctr">
              <a:spcBef>
                <a:spcPts val="2500"/>
              </a:spcBef>
              <a:defRPr sz="1400">
                <a:solidFill>
                  <a:srgbClr val="969696"/>
                </a:solidFill>
              </a:defRPr>
            </a:pPr>
            <a:r>
              <a:t>Open for Questions &amp; Evaluation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